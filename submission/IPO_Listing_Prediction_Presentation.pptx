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two outputs. Explain that all four implementation parts are delivered, while the original 90% aspiration was not achieved.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S0: 09:00 IST on the first bidding day Regression: listing opening price in INR Classification: opening price &gt; final issue price Final price and outcomes are labels, never predictors Apply is a gain signal before costs and allotment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253 mainboard IPOs first listed in 2023–2025 52 original S0 predictors; 12-variable core 7 optional financial variables compared Annual income/PAT: 135 IPOs; managers: 222 Prepared tables, source hashes and reconciliation audits bundled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Normalize issuer identities and reconcile listing venues Separate annual/interim financial periods and units Retain missing values and genuine outliers Fit imputation, indicators and scaling inside each fold Development positives: 78.5%; compare always Apply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excluded December-to-January row has an immature label at final fit. Earlier aggregate outcomes were seen in preparation; do not describe the reserved set as unseen external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price candidates; 9 classifier candidates Baselines, Ridge/logistic regression and restrained forests Core vs optional financial extension 76 candidate/fold fits; fixed random seed 42 Threshold fixed at 0.5; no threshold search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premium ratio uses only training opening prices and announced caps. The forest wins the accuracy/balanced-accuracy tie through lower Brier score; that does not improve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Announced cap has lower MAE/MAPE, while the selected method has lower RMSE. Never call 100 minus MAPE accuracy. Model choice is not revised using reserved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Accuracy: 67.96%, equal to always Apply Balanced accuracy: 50%; F1: 0.8092 70 positive / 33 non-positive IPOs No Skip predictions; zero true negatives Useful Skip detection and 90% accuracy not achieved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start_app.cmd from Windows or bash start_app.sh from WSL. Show name search, historical browsing, the model-details dialog and the actual-outcome toggle. Probabilities are uncalibrated.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executed notebooks with outputs Exact dependency lock and folder-independent paths Saved pipelines reload and reproduce predictions Evaluation receipt checks inputs and recorded artifacts Tests cover time order, leakage, relocation and app behavior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original 2025 period was already exposed, so it is no longer called an unseen test. Guardrails and thresholds were selected using development outcomes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positive and twelve non-positive outcomes. The refined Brier score is lower, but decision accuracy and Skip detection did not improve. Original artifacts are preserved; the app labels new audit cases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with measured limitations. Day-wise stages, anchors, post-listing decisions and economic backtests remain a later extension, not completed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 b="1">
                <a:solidFill>
                  <a:srgbClr val="17365D"/>
                </a:solidFill>
                <a:latin typeface="Aptos"/>
              </a:defRPr>
            </a:pPr>
            <a:r>
              <a:t>IPO Listing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Opening-price forecasts and positive-listing-gain signals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Indian mainboard IPOs | S0 information only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Final demonstration and measured results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24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648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6B7785"/>
                </a:solidFill>
                <a:latin typeface="Aptos"/>
              </a:defRPr>
            </a:pPr>
            <a:r>
              <a:t>IPO Listing Prediction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 b="1">
                <a:solidFill>
                  <a:srgbClr val="17365D"/>
                </a:solidFill>
                <a:latin typeface="Aptos"/>
              </a:defRPr>
            </a:pPr>
            <a:r>
              <a:t>Problem and information cutoff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S0: 09:00 IST on the first bidding day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Regression: listing opening price in INR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Classification: opening price &gt; final issue price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Final price and outcomes are labels, never predictors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Apply is a gain signal before costs and allotment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648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6B7785"/>
                </a:solidFill>
                <a:latin typeface="Aptos"/>
              </a:defRPr>
            </a:pPr>
            <a:r>
              <a:t>IPO Listing Prediction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 b="1">
                <a:solidFill>
                  <a:srgbClr val="17365D"/>
                </a:solidFill>
                <a:latin typeface="Aptos"/>
              </a:defRPr>
            </a:pPr>
            <a:r>
              <a:t>Prepared data and 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253 mainboard IPOs first listed in 2023–2025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52 original S0 predictors; 12-variable core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7 optional financial variables compared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Annual income/PAT: 135 IPOs; managers: 222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Prepared tables, source hashes and reconciliation audits bundled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648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6B7785"/>
                </a:solidFill>
                <a:latin typeface="Aptos"/>
              </a:defRPr>
            </a:pPr>
            <a:r>
              <a:t>IPO Listing Prediction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 b="1">
                <a:solidFill>
                  <a:srgbClr val="17365D"/>
                </a:solidFill>
                <a:latin typeface="Aptos"/>
              </a:defRPr>
            </a:pPr>
            <a:r>
              <a:t>Cleaning and exploratory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Normalize issuer identities and reconcile listing venues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Separate annual/interim financial periods and units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Retain missing values and genuine outliers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Fit imputation, indicators and scaling inside each fold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Development positives: 78.5%; compare always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648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6B7785"/>
                </a:solidFill>
                <a:latin typeface="Aptos"/>
              </a:defRPr>
            </a:pPr>
            <a:r>
              <a:t>IPO Listing Prediction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 b="1">
                <a:solidFill>
                  <a:srgbClr val="17365D"/>
                </a:solidFill>
                <a:latin typeface="Aptos"/>
              </a:defRPr>
            </a:pPr>
            <a:r>
              <a:t>Time-aware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149 development / 103 reserved / 1 excluded IPO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Four expanding 2024 folds: 90 validation IPOs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Training sizes: 59, 80, 94, 121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Labels must mature strictly before each cutoff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Freeze choices before the 2025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648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6B7785"/>
                </a:solidFill>
                <a:latin typeface="Aptos"/>
              </a:defRPr>
            </a:pPr>
            <a:r>
              <a:t>IPO Listing Prediction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 b="1">
                <a:solidFill>
                  <a:srgbClr val="17365D"/>
                </a:solidFill>
                <a:latin typeface="Aptos"/>
              </a:defRPr>
            </a:pPr>
            <a:r>
              <a:t>Small, recorded 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10 price candidates; 9 classifier candidates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Baselines, Ridge/logistic regression and restrained forests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Core vs optional financial extension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76 candidate/fold fits; fixed random seed 42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Threshold fixed at 0.5; no threshold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648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6B7785"/>
                </a:solidFill>
                <a:latin typeface="Aptos"/>
              </a:defRPr>
            </a:pPr>
            <a:r>
              <a:t>IPO Listing Prediction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 b="1">
                <a:solidFill>
                  <a:srgbClr val="17365D"/>
                </a:solidFill>
                <a:latin typeface="Aptos"/>
              </a:defRPr>
            </a:pPr>
            <a:r>
              <a:t>Development selected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Price: training-median premium × announced cap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Validation price MAE: INR 94.45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Classifier: core Random Forest, 200 trees, depth 3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Validation accuracy: 77.78%, equal to always Apply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All validation decisions were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648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6B7785"/>
                </a:solidFill>
                <a:latin typeface="Aptos"/>
              </a:defRPr>
            </a:pPr>
            <a:r>
              <a:t>IPO Listing Prediction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 b="1">
                <a:solidFill>
                  <a:srgbClr val="17365D"/>
                </a:solidFill>
                <a:latin typeface="Aptos"/>
              </a:defRPr>
            </a:pPr>
            <a:r>
              <a:t>Reserved price forecasts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Selected MAE: INR 49.86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Announced-cap MAE: INR 44.95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Selected RMSE: INR 73.49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Selected MAPE: 14.97%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Keep the frozen choice despite the baseline result</a:t>
            </a:r>
          </a:p>
        </p:txBody>
      </p:sp>
      <p:pic>
        <p:nvPicPr>
          <p:cNvPr id="4" name="Picture 3" descr="price_pre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648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6B7785"/>
                </a:solidFill>
                <a:latin typeface="Aptos"/>
              </a:defRPr>
            </a:pPr>
            <a:r>
              <a:t>IPO Listing Prediction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 b="1">
                <a:solidFill>
                  <a:srgbClr val="17365D"/>
                </a:solidFill>
                <a:latin typeface="Aptos"/>
              </a:defRPr>
            </a:pPr>
            <a:r>
              <a:t>Reserved Apply/Skip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Accuracy: 67.96%, equal to always Apply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Balanced accuracy: 50%; F1: 0.8092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70 positive / 33 non-positive IPOs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No Skip predictions; zero true negatives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Useful Skip detection and 90% accuracy not achieved</a:t>
            </a:r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41696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648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6B7785"/>
                </a:solidFill>
                <a:latin typeface="Aptos"/>
              </a:defRPr>
            </a:pPr>
            <a:r>
              <a:t>IPO Listing Prediction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 b="1">
                <a:solidFill>
                  <a:srgbClr val="17365D"/>
                </a:solidFill>
                <a:latin typeface="Aptos"/>
              </a:defRPr>
            </a:pPr>
            <a:r>
              <a:t>Historical local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Enter an IPO name, then press Predict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Read price, signal and probability in a results table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Or select from the historical collection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View actual outcomes separately on request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Training illustrations are explicitly labeled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648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6B7785"/>
                </a:solidFill>
                <a:latin typeface="Aptos"/>
              </a:defRPr>
            </a:pPr>
            <a:r>
              <a:t>IPO Listing Prediction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 b="1">
                <a:solidFill>
                  <a:srgbClr val="17365D"/>
                </a:solidFill>
                <a:latin typeface="Aptos"/>
              </a:defRPr>
            </a:pPr>
            <a:r>
              <a:t>Reproducibility and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Four executed notebooks with outputs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Exact dependency lock and folder-independent paths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Saved pipelines reload and reproduce predictions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Evaluation receipt checks inputs and recorded artifacts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Tests cover time order, leakage, relocation and app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648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6B7785"/>
                </a:solidFill>
                <a:latin typeface="Aptos"/>
              </a:defRPr>
            </a:pPr>
            <a:r>
              <a:t>IPO Listing Prediction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 b="1">
                <a:solidFill>
                  <a:srgbClr val="17365D"/>
                </a:solidFill>
                <a:latin typeface="Aptos"/>
              </a:defRPr>
            </a:pPr>
            <a:r>
              <a:t>Final audit: genuine new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48 candidates; eight expanding folds; 384 fits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253 original IPOs now serve as development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17 unused early-2026 IPOs for a new test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Shared observed inputs; no stale market backfill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Choices frozen before new-test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648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6B7785"/>
                </a:solidFill>
                <a:latin typeface="Aptos"/>
              </a:defRPr>
            </a:pPr>
            <a:r>
              <a:t>IPO Listing Prediction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 b="1">
                <a:solidFill>
                  <a:srgbClr val="17365D"/>
                </a:solidFill>
                <a:latin typeface="Aptos"/>
              </a:defRPr>
            </a:pPr>
            <a:r>
              <a:t>What tuning actually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Same 17 IPOs: price MAE 68.97 → 50.95 INR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Gain comes from more history, not tuning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Announced cap still wins: 30.67 INR MAE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Accuracy stays 29.41%; all 17 signals Apply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Keep the weak-signal conclusion; no 90%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648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6B7785"/>
                </a:solidFill>
                <a:latin typeface="Aptos"/>
              </a:defRPr>
            </a:pPr>
            <a:r>
              <a:t>IPO Listing Prediction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 b="1">
                <a:solidFill>
                  <a:srgbClr val="17365D"/>
                </a:solidFill>
                <a:latin typeface="Aptos"/>
              </a:defRPr>
            </a:pPr>
            <a:r>
              <a:t>Conclusion and next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Complete workflow, documentation and working demo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Price forecasts measured against a sensible baseline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Classifier has not learned useful Skip decisions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Small sample and source-availability assumptions remain</a:t>
            </a:r>
          </a:p>
          <a:p>
            <a:pPr>
              <a:spcAft>
                <a:spcPts val="1600"/>
              </a:spcAft>
              <a:defRPr sz="2100" b="0">
                <a:solidFill>
                  <a:srgbClr val="263747"/>
                </a:solidFill>
                <a:latin typeface="Aptos"/>
              </a:defRPr>
            </a:pPr>
            <a:r>
              <a:t>Extend information and evaluate afresh; do not tune on this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648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6B7785"/>
                </a:solidFill>
                <a:latin typeface="Aptos"/>
              </a:defRPr>
            </a:pPr>
            <a:r>
              <a:t>IPO Listing Prediction |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IPO Listing Prediction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